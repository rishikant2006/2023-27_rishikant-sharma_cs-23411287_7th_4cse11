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Baskervville"/>
      <p:regular r:id="rId201314"/>
    </p:embeddedFont>
    <p:embeddedFont>
      <p:font typeface="Baskervville Bold"/>
      <p:regular r:id="rId201315"/>
    </p:embeddedFont>
    <p:embeddedFont>
      <p:font typeface="Poppins Bold"/>
      <p:regular r:id="rId201316"/>
    </p:embeddedFont>
    <p:embeddedFont>
      <p:font typeface="Poppi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image" Target="../media/image-3-2.png"/><Relationship Id="rId11" Type="http://schemas.openxmlformats.org/officeDocument/2006/relationships/image" Target="../media/image-3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2.png"/><Relationship Id="rId11" Type="http://schemas.openxmlformats.org/officeDocument/2006/relationships/image" Target="../media/image-8-3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2.png"/><Relationship Id="rId15" Type="http://schemas.openxmlformats.org/officeDocument/2006/relationships/image" Target="../media/image-8-3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12813" y="2495153"/>
            <a:ext cx="6537955" cy="1388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Bank Portal Authentication System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5112813" y="4115594"/>
            <a:ext cx="7078882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Rishikant Sharma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 |  Roll Number: CS-23411287  |  IILM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927" y="1395016"/>
            <a:ext cx="6537955" cy="700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 Project Overview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540927" y="2327473"/>
            <a:ext cx="3191688" cy="1737717"/>
          </a:xfrm>
          <a:prstGeom prst="roundRect">
            <a:avLst>
              <a:gd name="adj" fmla="val 13342"/>
            </a:avLst>
          </a:prstGeom>
          <a:solidFill>
            <a:srgbClr val="ECDFE3"/>
          </a:solidFill>
          <a:ln/>
        </p:spPr>
      </p:sp>
      <p:sp>
        <p:nvSpPr>
          <p:cNvPr id="5" name="Text 2"/>
          <p:cNvSpPr/>
          <p:nvPr/>
        </p:nvSpPr>
        <p:spPr>
          <a:xfrm>
            <a:off x="695407" y="2481957"/>
            <a:ext cx="2882729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Secure by Design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95407" y="2921695"/>
            <a:ext cx="2882729" cy="989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robust authentication system built specifically for bank portal environments, protecting user data at every layer.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887095" y="2327473"/>
            <a:ext cx="3191787" cy="1737717"/>
          </a:xfrm>
          <a:prstGeom prst="roundRect">
            <a:avLst>
              <a:gd name="adj" fmla="val 13342"/>
            </a:avLst>
          </a:prstGeom>
          <a:solidFill>
            <a:srgbClr val="ECDFE3"/>
          </a:solidFill>
          <a:ln/>
        </p:spPr>
      </p:sp>
      <p:sp>
        <p:nvSpPr>
          <p:cNvPr id="8" name="Text 5"/>
          <p:cNvSpPr/>
          <p:nvPr/>
        </p:nvSpPr>
        <p:spPr>
          <a:xfrm>
            <a:off x="4041575" y="2481957"/>
            <a:ext cx="2882828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Multi-Layer Security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041575" y="2921695"/>
            <a:ext cx="2882828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Combines JWT token management and Two-Factor Authentication for defence-in-depth security.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0927" y="4219674"/>
            <a:ext cx="6537955" cy="1243211"/>
          </a:xfrm>
          <a:prstGeom prst="roundRect">
            <a:avLst>
              <a:gd name="adj" fmla="val 18650"/>
            </a:avLst>
          </a:prstGeom>
          <a:solidFill>
            <a:srgbClr val="ECDFE3"/>
          </a:solidFill>
          <a:ln/>
        </p:spPr>
      </p:sp>
      <p:sp>
        <p:nvSpPr>
          <p:cNvPr id="11" name="Text 8"/>
          <p:cNvSpPr/>
          <p:nvPr/>
        </p:nvSpPr>
        <p:spPr>
          <a:xfrm>
            <a:off x="695407" y="4374158"/>
            <a:ext cx="6228996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User-Friendly Flows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95407" y="4813895"/>
            <a:ext cx="6228996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Intuitive registration and login workflows designed for clarity without sacrificing security.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755749"/>
            <a:ext cx="11109841" cy="4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Key Features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0280" y="2314873"/>
            <a:ext cx="4990281" cy="282783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0179" y="1440458"/>
            <a:ext cx="3716840" cy="8547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11823" y="1561306"/>
            <a:ext cx="3424350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User Registration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111823" y="1880096"/>
            <a:ext cx="3424350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 up with email and phone number for a verified account identity.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0179" y="2370931"/>
            <a:ext cx="3716840" cy="8547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11823" y="2491780"/>
            <a:ext cx="3424350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Email OTP Verification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111823" y="2810570"/>
            <a:ext cx="3424350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One-time passcodes sent via email activate and validate each account.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40179" y="3301405"/>
            <a:ext cx="3716840" cy="8547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11823" y="3422253"/>
            <a:ext cx="3424350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Secure Login &amp; Password Hashing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8111823" y="3741043"/>
            <a:ext cx="3424350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bcrypt-encrypted credentials ensure passwords are never stored in plain text.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40179" y="4231878"/>
            <a:ext cx="3716840" cy="85477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11823" y="4352727"/>
            <a:ext cx="3424350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JWT Session Management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111823" y="4671516"/>
            <a:ext cx="3424350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Stateless token-based sessions keep the portal fast and secure.</a:t>
            </a:r>
            <a:endParaRPr lang="en-US" sz="8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40179" y="5162352"/>
            <a:ext cx="3716840" cy="85477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111823" y="5283200"/>
            <a:ext cx="3424350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TOTP Two-Factor Authentication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8111823" y="5601990"/>
            <a:ext cx="3424350" cy="294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Time-based one-time passwords add a critical second layer of protection.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431205"/>
            <a:ext cx="11109841" cy="58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Registration Process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27" y="1237159"/>
            <a:ext cx="11109841" cy="48735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7818" y="4280179"/>
            <a:ext cx="1679111" cy="864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Enter Details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907818" y="5229912"/>
            <a:ext cx="1679111" cy="44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email, phone, password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241957" y="4712286"/>
            <a:ext cx="1679111" cy="432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Complete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241957" y="5229912"/>
            <a:ext cx="1679111" cy="44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 verified and ready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99542" y="1675178"/>
            <a:ext cx="1679111" cy="864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Open Register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299542" y="2624911"/>
            <a:ext cx="1679111" cy="44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Register in navigation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2301" y="1675178"/>
            <a:ext cx="1679112" cy="864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Verify OTP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612301" y="2624911"/>
            <a:ext cx="1679112" cy="44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 OTP sent to your email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0927" y="6234410"/>
            <a:ext cx="11650768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streamlined four-step process ensures every account is verified and secure before access is granted.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802481"/>
            <a:ext cx="11109841" cy="59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Login Process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540927" y="1671737"/>
            <a:ext cx="3680130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Step-by-Step Login Flow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540927" y="2092325"/>
            <a:ext cx="295565" cy="295573"/>
          </a:xfrm>
          <a:prstGeom prst="ellipse">
            <a:avLst/>
          </a:prstGeom>
          <a:solidFill>
            <a:srgbClr val="ECDFE3"/>
          </a:solidFill>
          <a:ln/>
        </p:spPr>
      </p:sp>
      <p:sp>
        <p:nvSpPr>
          <p:cNvPr id="5" name="Text 3"/>
          <p:cNvSpPr/>
          <p:nvPr/>
        </p:nvSpPr>
        <p:spPr>
          <a:xfrm>
            <a:off x="547029" y="2063006"/>
            <a:ext cx="283262" cy="35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8111" y="2137470"/>
            <a:ext cx="327294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Navigate to Login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48111" y="2544068"/>
            <a:ext cx="3272946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"Login"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the portal navigation bar.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0927" y="2961779"/>
            <a:ext cx="295565" cy="295573"/>
          </a:xfrm>
          <a:prstGeom prst="ellipse">
            <a:avLst/>
          </a:prstGeom>
          <a:solidFill>
            <a:srgbClr val="ECDFE3"/>
          </a:solidFill>
          <a:ln/>
        </p:spPr>
      </p:sp>
      <p:sp>
        <p:nvSpPr>
          <p:cNvPr id="9" name="Text 7"/>
          <p:cNvSpPr/>
          <p:nvPr/>
        </p:nvSpPr>
        <p:spPr>
          <a:xfrm>
            <a:off x="547029" y="2932460"/>
            <a:ext cx="283262" cy="35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48111" y="3006923"/>
            <a:ext cx="327294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Enter Credentials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48111" y="3413522"/>
            <a:ext cx="3272946" cy="388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your registered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email address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password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0927" y="4025602"/>
            <a:ext cx="295565" cy="295573"/>
          </a:xfrm>
          <a:prstGeom prst="ellipse">
            <a:avLst/>
          </a:prstGeom>
          <a:solidFill>
            <a:srgbClr val="ECDFE3"/>
          </a:solidFill>
          <a:ln/>
        </p:spPr>
      </p:sp>
      <p:sp>
        <p:nvSpPr>
          <p:cNvPr id="13" name="Text 11"/>
          <p:cNvSpPr/>
          <p:nvPr/>
        </p:nvSpPr>
        <p:spPr>
          <a:xfrm>
            <a:off x="547029" y="3996283"/>
            <a:ext cx="283262" cy="35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48111" y="4070747"/>
            <a:ext cx="327294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2FA Verification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48111" y="4477345"/>
            <a:ext cx="3272946" cy="388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2FA is enabled, enter the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6-digit authenticator code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0927" y="5089426"/>
            <a:ext cx="295565" cy="295573"/>
          </a:xfrm>
          <a:prstGeom prst="ellipse">
            <a:avLst/>
          </a:prstGeom>
          <a:solidFill>
            <a:srgbClr val="ECDFE3"/>
          </a:solidFill>
          <a:ln/>
        </p:spPr>
      </p:sp>
      <p:sp>
        <p:nvSpPr>
          <p:cNvPr id="17" name="Text 15"/>
          <p:cNvSpPr/>
          <p:nvPr/>
        </p:nvSpPr>
        <p:spPr>
          <a:xfrm>
            <a:off x="547029" y="5060107"/>
            <a:ext cx="283262" cy="35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8111" y="5134570"/>
            <a:ext cx="327294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Access Dashboard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48111" y="5541169"/>
            <a:ext cx="3272946" cy="388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Gain secure access to your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personal bank dashboard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1064" y="2095698"/>
            <a:ext cx="6042767" cy="34242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966986"/>
            <a:ext cx="11109841" cy="659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Two-Factor Authentication Setup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27" y="1905595"/>
            <a:ext cx="5554920" cy="587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7767" y="2632472"/>
            <a:ext cx="5261240" cy="3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Prompted After Login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87767" y="3045817"/>
            <a:ext cx="5261240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prompts 2FA setup on first successful login.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905595"/>
            <a:ext cx="5554920" cy="5873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42688" y="2632472"/>
            <a:ext cx="5261240" cy="3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Scan QR Code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6242688" y="3045817"/>
            <a:ext cx="526124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any authenticator app (Google, Authy) to scan the displayed QR code.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27" y="3650655"/>
            <a:ext cx="5554920" cy="587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7767" y="4377531"/>
            <a:ext cx="5261240" cy="3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Verify 6-Digit Code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687767" y="4790877"/>
            <a:ext cx="5261240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 the time-based code generated by your authenticator app.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650655"/>
            <a:ext cx="5554920" cy="587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42688" y="4377531"/>
            <a:ext cx="5261240" cy="3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2FA Active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6242688" y="4790877"/>
            <a:ext cx="5261240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future logins now require the authenticator code for access.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40927" y="5323582"/>
            <a:ext cx="11109841" cy="567432"/>
          </a:xfrm>
          <a:prstGeom prst="roundRect">
            <a:avLst>
              <a:gd name="adj" fmla="val 38817"/>
            </a:avLst>
          </a:prstGeom>
          <a:solidFill>
            <a:srgbClr val="ECDFE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67" y="5523706"/>
            <a:ext cx="183550" cy="1468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18157" y="5499795"/>
            <a:ext cx="1109535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TOTP codes refresh every 30 seconds — ensuring no code can be reused by an attacker.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12813" y="1206500"/>
            <a:ext cx="6537955" cy="555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Authentication Features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5112813" y="1910259"/>
            <a:ext cx="6537955" cy="3741142"/>
          </a:xfrm>
          <a:prstGeom prst="roundRect">
            <a:avLst>
              <a:gd name="adj" fmla="val 4958"/>
            </a:avLst>
          </a:prstGeom>
          <a:solidFill>
            <a:srgbClr val="ECDFE3"/>
          </a:solidFill>
          <a:ln/>
        </p:spPr>
      </p:sp>
      <p:sp>
        <p:nvSpPr>
          <p:cNvPr id="5" name="Shape 2"/>
          <p:cNvSpPr/>
          <p:nvPr/>
        </p:nvSpPr>
        <p:spPr>
          <a:xfrm>
            <a:off x="5112813" y="1910259"/>
            <a:ext cx="6537955" cy="861120"/>
          </a:xfrm>
          <a:custGeom>
            <a:avLst/>
            <a:gdLst/>
            <a:ahLst/>
            <a:cxnLst/>
            <a:rect l="l" t="t" r="r" b="b"/>
            <a:pathLst>
              <a:path w="6537955" h="861120">
                <a:moveTo>
                  <a:pt x="154570" y="0"/>
                </a:moveTo>
                <a:lnTo>
                  <a:pt x="6383385" y="0"/>
                </a:lnTo>
                <a:arcTo hR="154574" wR="154570" stAng="16200000" swAng="5400000"/>
                <a:lnTo>
                  <a:pt x="6537955" y="861120"/>
                </a:lnTo>
                <a:lnTo>
                  <a:pt x="0" y="861120"/>
                </a:lnTo>
                <a:lnTo>
                  <a:pt x="0" y="154574"/>
                </a:lnTo>
                <a:arcTo hR="154574" wR="154570" stAng="10800000" swAng="5400000"/>
                <a:close/>
              </a:path>
            </a:pathLst>
          </a:custGeom>
          <a:solidFill>
            <a:srgbClr val="ECDFE3"/>
          </a:solidFill>
          <a:ln/>
        </p:spPr>
      </p:sp>
      <p:sp>
        <p:nvSpPr>
          <p:cNvPr id="6" name="Text 3"/>
          <p:cNvSpPr/>
          <p:nvPr/>
        </p:nvSpPr>
        <p:spPr>
          <a:xfrm>
            <a:off x="5211731" y="2009180"/>
            <a:ext cx="6340118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Email OTP Verification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211731" y="2346127"/>
            <a:ext cx="634011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account activation through one-time passcodes delivered to the registered email.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112813" y="2771378"/>
            <a:ext cx="6537955" cy="1009452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9" name="Shape 6"/>
          <p:cNvSpPr/>
          <p:nvPr/>
        </p:nvSpPr>
        <p:spPr>
          <a:xfrm>
            <a:off x="5112813" y="2771378"/>
            <a:ext cx="6537955" cy="12700"/>
          </a:xfrm>
          <a:prstGeom prst="roundRect">
            <a:avLst>
              <a:gd name="adj" fmla="val 49999"/>
            </a:avLst>
          </a:prstGeom>
          <a:solidFill>
            <a:srgbClr val="D2C5C9"/>
          </a:solidFill>
          <a:ln/>
        </p:spPr>
      </p:sp>
      <p:sp>
        <p:nvSpPr>
          <p:cNvPr id="10" name="Shape 7"/>
          <p:cNvSpPr/>
          <p:nvPr/>
        </p:nvSpPr>
        <p:spPr>
          <a:xfrm>
            <a:off x="8227211" y="2623195"/>
            <a:ext cx="309059" cy="30906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2C5C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4501" y="2700486"/>
            <a:ext cx="154480" cy="1544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1731" y="3018631"/>
            <a:ext cx="6340118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Password Hashing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211731" y="3355578"/>
            <a:ext cx="634011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bcrypt encryption ensures all passwords are salted and hashed — never stored in plain text.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12813" y="3780830"/>
            <a:ext cx="6537955" cy="1009452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15" name="Shape 11"/>
          <p:cNvSpPr/>
          <p:nvPr/>
        </p:nvSpPr>
        <p:spPr>
          <a:xfrm>
            <a:off x="5112813" y="3780830"/>
            <a:ext cx="6537955" cy="12700"/>
          </a:xfrm>
          <a:prstGeom prst="roundRect">
            <a:avLst>
              <a:gd name="adj" fmla="val 49999"/>
            </a:avLst>
          </a:prstGeom>
          <a:solidFill>
            <a:srgbClr val="D2C5C9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7211" y="3632646"/>
            <a:ext cx="309059" cy="30906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2C5C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4501" y="3709938"/>
            <a:ext cx="154480" cy="1544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1731" y="4028083"/>
            <a:ext cx="6340118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JWT Tokens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211731" y="4365030"/>
            <a:ext cx="634011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Stateless session management via signed JSON Web Tokens for scalable, secure access control.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112813" y="4790281"/>
            <a:ext cx="6537955" cy="861120"/>
          </a:xfrm>
          <a:custGeom>
            <a:avLst/>
            <a:gdLst/>
            <a:ahLst/>
            <a:cxnLst/>
            <a:rect l="l" t="t" r="r" b="b"/>
            <a:pathLst>
              <a:path w="6537955" h="861120">
                <a:moveTo>
                  <a:pt x="0" y="0"/>
                </a:moveTo>
                <a:lnTo>
                  <a:pt x="6537955" y="0"/>
                </a:lnTo>
                <a:lnTo>
                  <a:pt x="6537955" y="706546"/>
                </a:lnTo>
                <a:arcTo hR="154574" wR="154570" stAng="0" swAng="5400000"/>
                <a:lnTo>
                  <a:pt x="154570" y="861120"/>
                </a:lnTo>
                <a:arcTo hR="154574" wR="154570" stAng="5400000" swAng="5400000"/>
                <a:lnTo>
                  <a:pt x="0" y="0"/>
                </a:lnTo>
                <a:close/>
              </a:path>
            </a:pathLst>
          </a:custGeom>
          <a:solidFill>
            <a:srgbClr val="ECDFE3"/>
          </a:solidFill>
          <a:ln/>
        </p:spPr>
      </p:sp>
      <p:sp>
        <p:nvSpPr>
          <p:cNvPr id="21" name="Shape 16"/>
          <p:cNvSpPr/>
          <p:nvPr/>
        </p:nvSpPr>
        <p:spPr>
          <a:xfrm>
            <a:off x="5112813" y="4790281"/>
            <a:ext cx="6537955" cy="12700"/>
          </a:xfrm>
          <a:prstGeom prst="roundRect">
            <a:avLst>
              <a:gd name="adj" fmla="val 49999"/>
            </a:avLst>
          </a:prstGeom>
          <a:solidFill>
            <a:srgbClr val="D2C5C9"/>
          </a:solidFill>
          <a:ln/>
        </p:spPr>
      </p:sp>
      <p:sp>
        <p:nvSpPr>
          <p:cNvPr id="22" name="Shape 17"/>
          <p:cNvSpPr/>
          <p:nvPr/>
        </p:nvSpPr>
        <p:spPr>
          <a:xfrm>
            <a:off x="8227211" y="4642098"/>
            <a:ext cx="309059" cy="30906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2C5C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4501" y="4719389"/>
            <a:ext cx="154480" cy="1544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11731" y="5037534"/>
            <a:ext cx="6340118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TOTP 2FA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5211731" y="5374481"/>
            <a:ext cx="634011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Time-based one-time passwords provide a dynamic second factor that expires every 30 seconds.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843657"/>
            <a:ext cx="11109841" cy="5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Backend Technologies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195" y="2240955"/>
            <a:ext cx="5341705" cy="302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2382" y="1581646"/>
            <a:ext cx="3704636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Powering the Secure Backend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2382" y="1939826"/>
            <a:ext cx="3704636" cy="92898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9938" y="2317353"/>
            <a:ext cx="173827" cy="17383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515633" y="2068413"/>
            <a:ext cx="3012801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Node.js Runtime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8515633" y="2415778"/>
            <a:ext cx="3012801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High-performance JavaScript runtime for handling concurrent authentication requests.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2382" y="2955727"/>
            <a:ext cx="3704636" cy="928985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9938" y="3333254"/>
            <a:ext cx="173827" cy="17383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515633" y="3084314"/>
            <a:ext cx="3012801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Express.js Framework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515633" y="3431679"/>
            <a:ext cx="3012801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Lightweight and flexible REST API framework powering all authentication routes.</a:t>
            </a:r>
            <a:endParaRPr lang="en-US" sz="9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52382" y="3971627"/>
            <a:ext cx="3704636" cy="928985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09938" y="4349155"/>
            <a:ext cx="173827" cy="173831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515633" y="4100215"/>
            <a:ext cx="3012801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JWT · bcrypt · Speakeasy</a:t>
            </a:r>
            <a:endParaRPr lang="en-US" sz="1600" dirty="0"/>
          </a:p>
        </p:txBody>
      </p:sp>
      <p:sp>
        <p:nvSpPr>
          <p:cNvPr id="16" name="Text 7"/>
          <p:cNvSpPr/>
          <p:nvPr/>
        </p:nvSpPr>
        <p:spPr>
          <a:xfrm>
            <a:off x="8515633" y="4447580"/>
            <a:ext cx="3012801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Industry-standard libraries for token signing, password hashing, and TOTP generation.</a:t>
            </a:r>
            <a:endParaRPr lang="en-US" sz="9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52382" y="4987528"/>
            <a:ext cx="3704636" cy="928985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09938" y="5365055"/>
            <a:ext cx="173827" cy="173831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8515633" y="5116116"/>
            <a:ext cx="3012801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Nodemailer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8515633" y="5463480"/>
            <a:ext cx="3012801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Reliable email delivery service for dispatching OTP verification codes to users.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1660823"/>
            <a:ext cx="11109841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Frontend Technologies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27" y="2664222"/>
            <a:ext cx="1158251" cy="1158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927" y="4015680"/>
            <a:ext cx="2632505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HTML5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40927" y="4455418"/>
            <a:ext cx="2632505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Semantic markup delivering accessible, well-structured portal interfaces.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606" y="2664222"/>
            <a:ext cx="1158251" cy="1158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66606" y="4015680"/>
            <a:ext cx="2632604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CSS3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3366606" y="4455418"/>
            <a:ext cx="2632604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Modern styling for a clean, responsive bank portal experience across devices.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385" y="2664222"/>
            <a:ext cx="1158251" cy="1158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92385" y="4015680"/>
            <a:ext cx="2632604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JavaScript ES6+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6192385" y="4455418"/>
            <a:ext cx="2632604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Dynamic client-side scripting enabling real-time validation and interactive flows.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8163" y="2664222"/>
            <a:ext cx="1158251" cy="11582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18163" y="4015680"/>
            <a:ext cx="2632604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QR Code Library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9018163" y="4455418"/>
            <a:ext cx="2632604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pPr algn="l" indent="0" marL="0">
              <a:lnSpc>
                <a:spcPct val="133000"/>
              </a:lnSpc>
              <a:buNone/>
            </a:pPr>
            <a:r>
              <a:rPr lang="en-US" sz="1200" i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qrcode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library renders TOTP QR codes for seamless authenticator app setup.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426541"/>
            <a:ext cx="1110984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Security Highlights &amp; Benefits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27" y="927497"/>
            <a:ext cx="5451835" cy="54519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5283" y="3105944"/>
            <a:ext cx="545183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Why This Architecture?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205283" y="3341886"/>
            <a:ext cx="5986412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Bank Portal Authentication System is built on </a:t>
            </a:r>
            <a:pPr algn="l" indent="0" marL="0">
              <a:lnSpc>
                <a:spcPct val="103000"/>
              </a:lnSpc>
              <a:buNone/>
            </a:pP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four complementary security layers</a:t>
            </a:r>
            <a:pPr algn="l" indent="0" marL="0">
              <a:lnSpc>
                <a:spcPct val="103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each addressing a distinct threat vector: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205283" y="3488035"/>
            <a:ext cx="5451835" cy="466824"/>
          </a:xfrm>
          <a:prstGeom prst="rect">
            <a:avLst/>
          </a:prstGeom>
          <a:noFill/>
          <a:ln/>
        </p:spPr>
        <p:txBody>
          <a:bodyPr wrap="square" lIns="0" tIns="33812" rIns="0" bIns="0" rtlCol="0" anchor="t">
            <a:normAutofit/>
          </a:bodyPr>
          <a:lstStyle/>
          <a:p>
            <a:pPr algn="l" marL="132080" indent="-132080">
              <a:lnSpc>
                <a:spcPct val="103000"/>
              </a:lnSpc>
              <a:buSzPct val="100000"/>
              <a:buChar char="•"/>
            </a:pP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Multi-layer authentication</a:t>
            </a:r>
            <a:pPr algn="l" marL="132080" indent="-132080">
              <a:lnSpc>
                <a:spcPct val="103000"/>
              </a:lnSpc>
              <a:buSzPct val="100000"/>
              <a:buChar char="•"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ensures no single point of failure exists in the login flow.</a:t>
            </a:r>
            <a:endParaRPr lang="en-US" sz="650" dirty="0"/>
          </a:p>
          <a:p>
            <a:pPr algn="l" marL="132080" indent="-132080">
              <a:lnSpc>
                <a:spcPct val="103000"/>
              </a:lnSpc>
              <a:buSzPct val="100000"/>
              <a:buChar char="•"/>
            </a:pP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bcrypt password hashing</a:t>
            </a:r>
            <a:pPr algn="l" marL="132080" indent="-132080">
              <a:lnSpc>
                <a:spcPct val="103000"/>
              </a:lnSpc>
              <a:buSzPct val="100000"/>
              <a:buChar char="•"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makes brute-force attacks computationally infeasible.</a:t>
            </a:r>
            <a:endParaRPr lang="en-US" sz="650" dirty="0"/>
          </a:p>
          <a:p>
            <a:pPr algn="l" marL="132080" indent="-132080">
              <a:lnSpc>
                <a:spcPct val="103000"/>
              </a:lnSpc>
              <a:buSzPct val="100000"/>
              <a:buChar char="•"/>
            </a:pP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Time-limited OTPs</a:t>
            </a:r>
            <a:pPr algn="l" marL="132080" indent="-132080">
              <a:lnSpc>
                <a:spcPct val="103000"/>
              </a:lnSpc>
              <a:buSzPct val="100000"/>
              <a:buChar char="•"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email verification prevent replay attacks.</a:t>
            </a:r>
            <a:endParaRPr lang="en-US" sz="650" dirty="0"/>
          </a:p>
          <a:p>
            <a:pPr algn="l" marL="132080" indent="-132080">
              <a:lnSpc>
                <a:spcPct val="103000"/>
              </a:lnSpc>
              <a:buSzPct val="100000"/>
              <a:buChar char="•"/>
            </a:pP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TOTP 2FA</a:t>
            </a:r>
            <a:pPr algn="l" marL="132080" indent="-132080">
              <a:lnSpc>
                <a:spcPct val="103000"/>
              </a:lnSpc>
              <a:buSzPct val="100000"/>
              <a:buChar char="•"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guarantees that even stolen credentials cannot grant unauthorized access.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6205283" y="3996432"/>
            <a:ext cx="5451835" cy="20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Together, these layers deliver </a:t>
            </a:r>
            <a:pPr algn="l" indent="0" marL="0">
              <a:lnSpc>
                <a:spcPct val="103000"/>
              </a:lnSpc>
              <a:buNone/>
            </a:pP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enhanced security</a:t>
            </a:r>
            <a:pPr algn="l" indent="0" marL="0">
              <a:lnSpc>
                <a:spcPct val="103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 </a:t>
            </a:r>
            <a:pPr algn="l" indent="0" marL="0">
              <a:lnSpc>
                <a:spcPct val="103000"/>
              </a:lnSpc>
              <a:buNone/>
            </a:pP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seamless user experience</a:t>
            </a:r>
            <a:pPr algn="l" indent="0" marL="0">
              <a:lnSpc>
                <a:spcPct val="103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</a:t>
            </a:r>
            <a:pPr algn="l" indent="0" marL="0">
              <a:lnSpc>
                <a:spcPct val="103000"/>
              </a:lnSpc>
              <a:buNone/>
            </a:pPr>
            <a:r>
              <a:rPr lang="en-US" sz="65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industry-standard practices</a:t>
            </a:r>
            <a:pPr algn="l" indent="0" marL="0">
              <a:lnSpc>
                <a:spcPct val="103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with a scalable architecture ready for future enhancements.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927" y="2390775"/>
            <a:ext cx="6537955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Thank You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540927" y="3316883"/>
            <a:ext cx="6537955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Rishikant Sharma</a:t>
            </a:r>
            <a:endParaRPr lang="en-US" sz="12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 Number: </a:t>
            </a:r>
            <a:pPr algn="ctr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CS-23411287</a:t>
            </a:r>
            <a:endParaRPr lang="en-US" sz="12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IILM University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0927" y="4232473"/>
            <a:ext cx="2532991" cy="234752"/>
          </a:xfrm>
          <a:prstGeom prst="roundRect">
            <a:avLst>
              <a:gd name="adj" fmla="val 49999"/>
            </a:avLst>
          </a:prstGeom>
          <a:solidFill>
            <a:srgbClr val="ECDFE3"/>
          </a:solidFill>
          <a:ln/>
        </p:spPr>
      </p:sp>
      <p:sp>
        <p:nvSpPr>
          <p:cNvPr id="6" name="Text 3"/>
          <p:cNvSpPr/>
          <p:nvPr/>
        </p:nvSpPr>
        <p:spPr>
          <a:xfrm>
            <a:off x="633595" y="4278809"/>
            <a:ext cx="2957240" cy="14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BANK PORTAL AUTHENTICATION SYSTEM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151109" y="4232473"/>
            <a:ext cx="2296361" cy="23475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C7A2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43777" y="4278809"/>
            <a:ext cx="2720609" cy="14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PROJECT PRESENTATION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2026-08-26T12:07:11Z</dcterms:created>
  <dcterms:modified xsi:type="dcterms:W3CDTF">2026-08-26T12:07:11Z</dcterms:modified>
</cp:coreProperties>
</file>